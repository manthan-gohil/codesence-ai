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MID-SEMESTER PROJECT EVALUATION  •  ACADEMIC VIVA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002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Segoe UI"/>
              </a:defRPr>
            </a:pPr>
            <a:r>
              <a:t>CodeSense AI</a:t>
            </a:r>
          </a:p>
          <a:p>
            <a:pPr>
              <a:defRPr sz="1800">
                <a:solidFill>
                  <a:srgbClr val="94A3B8"/>
                </a:solidFill>
                <a:latin typeface="Segoe UI"/>
              </a:defRPr>
            </a:pPr>
            <a:r>
              <a:t>Semantic Code Intelligence &amp; Repository Exploration via RAG and AST Dependency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291840"/>
            <a:ext cx="9966960" cy="18288"/>
          </a:xfrm>
          <a:prstGeom prst="rect">
            <a:avLst/>
          </a:prstGeom>
          <a:solidFill>
            <a:srgbClr val="26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3657600"/>
            <a:ext cx="3108960" cy="210312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3822191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AI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4023359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Methodology &amp;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434340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RAG Pipeline: </a:t>
            </a:r>
            <a:r>
              <a:rPr sz="950">
                <a:solidFill>
                  <a:srgbClr val="94A3B8"/>
                </a:solidFill>
                <a:latin typeface="Segoe UI"/>
              </a:rPr>
              <a:t>Dense Semantic Retrieval + Sliding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84632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Vector Search: </a:t>
            </a:r>
            <a:r>
              <a:rPr sz="950">
                <a:solidFill>
                  <a:srgbClr val="94A3B8"/>
                </a:solidFill>
                <a:latin typeface="Segoe UI"/>
              </a:rPr>
              <a:t>Local FAISS IndexFlatIP (768-dim)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534924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Inference: </a:t>
            </a:r>
            <a:r>
              <a:rPr sz="950">
                <a:solidFill>
                  <a:srgbClr val="94A3B8"/>
                </a:solidFill>
                <a:latin typeface="Segoe UI"/>
              </a:rPr>
              <a:t>Qwen 2.5 Coder 1.5B (Local) + Gemini Fallback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3657600"/>
            <a:ext cx="3108960" cy="210312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822191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818CF8"/>
                </a:solidFill>
                <a:latin typeface="Consolas"/>
              </a:defRPr>
            </a:pPr>
            <a:r>
              <a:t>SYSTEM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023359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34340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Microservices: </a:t>
            </a:r>
            <a:r>
              <a:rPr sz="950">
                <a:solidFill>
                  <a:srgbClr val="94A3B8"/>
                </a:solidFill>
                <a:latin typeface="Segoe UI"/>
              </a:rPr>
              <a:t>4 Decoupled FastAPI Backend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84632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Containers: </a:t>
            </a:r>
            <a:r>
              <a:rPr sz="950">
                <a:solidFill>
                  <a:srgbClr val="94A3B8"/>
                </a:solidFill>
                <a:latin typeface="Segoe UI"/>
              </a:rPr>
              <a:t>7 Orchestrated Docker Containers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534924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Databases: </a:t>
            </a:r>
            <a:r>
              <a:rPr sz="950">
                <a:solidFill>
                  <a:srgbClr val="94A3B8"/>
                </a:solidFill>
                <a:latin typeface="Segoe UI"/>
              </a:rPr>
              <a:t>PostgreSQL 15 + Named Volume Persistence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3657600"/>
            <a:ext cx="3108960" cy="210312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3822191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  <a:latin typeface="Consolas"/>
              </a:defRPr>
            </a:pPr>
            <a:r>
              <a:t>CANDIDATE INFORMATION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4023359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Defense 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434340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Presenter: </a:t>
            </a:r>
            <a:r>
              <a:rPr sz="950">
                <a:solidFill>
                  <a:srgbClr val="94A3B8"/>
                </a:solidFill>
                <a:latin typeface="Segoe UI"/>
              </a:rPr>
              <a:t>Manthan Gohil (B.Tech CSE)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484632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Domain: </a:t>
            </a:r>
            <a:r>
              <a:rPr sz="950">
                <a:solidFill>
                  <a:srgbClr val="94A3B8"/>
                </a:solidFill>
                <a:latin typeface="Segoe UI"/>
              </a:rPr>
              <a:t>Generative AI, Code RAG, DevOps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534924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Repository: </a:t>
            </a:r>
            <a:r>
              <a:rPr sz="950">
                <a:solidFill>
                  <a:srgbClr val="94A3B8"/>
                </a:solidFill>
                <a:latin typeface="Segoe UI"/>
              </a:rPr>
              <a:t>Manthan-Gohil/CodeSence-AI (GitHub)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01 / PROBLEM STATEMENT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The Software Onboarding &amp; Code Comprehension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CodeSense AI • Academic Evaluation &amp; Technical Defense           [ Slide 2 of 16 ]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337560" cy="384048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44751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87171"/>
                </a:solidFill>
                <a:latin typeface="Consolas"/>
              </a:defRPr>
            </a:pPr>
            <a:r>
              <a:t>THE ONBOARDING CRISIS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45919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Cognitive Overload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6596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Reading vs Writing: </a:t>
            </a:r>
            <a:r>
              <a:rPr sz="950">
                <a:solidFill>
                  <a:srgbClr val="94A3B8"/>
                </a:solidFill>
                <a:latin typeface="Segoe UI"/>
              </a:rPr>
              <a:t>Studies reveal engineers spend ~70% of effort reading existing code rather than authoring new features.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8892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Multi-File Friction: </a:t>
            </a:r>
            <a:r>
              <a:rPr sz="950">
                <a:solidFill>
                  <a:srgbClr val="94A3B8"/>
                </a:solidFill>
                <a:latin typeface="Segoe UI"/>
              </a:rPr>
              <a:t>Large repositories span dozens of modules, nested inheritance trees, and fragmented configuration layers.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1188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Knowledge Silos: </a:t>
            </a:r>
            <a:r>
              <a:rPr sz="950">
                <a:solidFill>
                  <a:srgbClr val="94A3B8"/>
                </a:solidFill>
                <a:latin typeface="Segoe UI"/>
              </a:rPr>
              <a:t>Junior developers require hours of senior guidance simply to trace control flow and business rules.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280160"/>
            <a:ext cx="3337560" cy="384048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444751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BBF24"/>
                </a:solidFill>
                <a:latin typeface="Consolas"/>
              </a:defRPr>
            </a:pPr>
            <a:r>
              <a:t>TOOLING 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645919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Lexical Search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96596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Exact-String Bias: </a:t>
            </a:r>
            <a:r>
              <a:rPr sz="950">
                <a:solidFill>
                  <a:srgbClr val="94A3B8"/>
                </a:solidFill>
                <a:latin typeface="Segoe UI"/>
              </a:rPr>
              <a:t>Standard IDE grep and GitHub search rely on string matching; they cannot resolve semantic concepts.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78892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Semantic Blindness: </a:t>
            </a:r>
            <a:r>
              <a:rPr sz="950">
                <a:solidFill>
                  <a:srgbClr val="94A3B8"/>
                </a:solidFill>
                <a:latin typeface="Segoe UI"/>
              </a:rPr>
              <a:t>Querying 'How are sessions authenticated?' fails if the codebase uses terms like 'token_verifier' or 'OAuth'.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61188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Context Severing: </a:t>
            </a:r>
            <a:r>
              <a:rPr sz="950">
                <a:solidFill>
                  <a:srgbClr val="94A3B8"/>
                </a:solidFill>
                <a:latin typeface="Segoe UI"/>
              </a:rPr>
              <a:t>Keyword hits return isolated lines without surrounding architectural or functional dependencies.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280160"/>
            <a:ext cx="3337560" cy="384048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444751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87171"/>
                </a:solidFill>
                <a:latin typeface="Consolas"/>
              </a:defRPr>
            </a:pPr>
            <a:r>
              <a:t>ENTERPRISE CONSTRAINTS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645919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Cloud AI Vulnerabilities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196596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Data Privacy Leakage: </a:t>
            </a:r>
            <a:r>
              <a:rPr sz="950">
                <a:solidFill>
                  <a:srgbClr val="94A3B8"/>
                </a:solidFill>
                <a:latin typeface="Segoe UI"/>
              </a:rPr>
              <a:t>Sending proprietary enterprise codebases to public commercial APIs violates IP and compliance policies.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78892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API Exhaustion &amp; Cost: </a:t>
            </a:r>
            <a:r>
              <a:rPr sz="950">
                <a:solidFill>
                  <a:srgbClr val="94A3B8"/>
                </a:solidFill>
                <a:latin typeface="Segoe UI"/>
              </a:rPr>
              <a:t>Commercial LLM tokens are expensive ($0.03/1k tokens); large repositories quickly trigger rate throttling.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61188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Cloud Latency: </a:t>
            </a:r>
            <a:r>
              <a:rPr sz="950">
                <a:solidFill>
                  <a:srgbClr val="94A3B8"/>
                </a:solidFill>
                <a:latin typeface="Segoe UI"/>
              </a:rPr>
              <a:t>External network roundtrips add 5-15s per query, breaking interactive developer workflow.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349240"/>
            <a:ext cx="10744200" cy="914400"/>
          </a:xfrm>
          <a:prstGeom prst="roundRect">
            <a:avLst/>
          </a:prstGeom>
          <a:solidFill>
            <a:srgbClr val="181C2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458968"/>
            <a:ext cx="10378440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38BDF8"/>
                </a:solidFill>
                <a:latin typeface="Consolas"/>
              </a:rPr>
              <a:t>DEFENSE QUESTION • Why is this difficult?
</a:t>
            </a:r>
            <a:r>
              <a:rPr sz="900">
                <a:solidFill>
                  <a:srgbClr val="F8FAFC"/>
                </a:solidFill>
                <a:latin typeface="Segoe UI"/>
              </a:rPr>
              <a:t>Code is not natural language: it contains strict hierarchical grammar, cross-file syntactic dependencies, and high sensitivity to token truncation. An effective assistant must understand both dense semantics and structural AST imports locally.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02 / RESEARCH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Research Gap &amp; Primary Research Question (RQ)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CodeSense AI • Academic Evaluation &amp; Technical Defense           [ Slide 3 of 16 ]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329184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44751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BBF24"/>
                </a:solidFill>
                <a:latin typeface="Consolas"/>
              </a:defRPr>
            </a:pPr>
            <a:r>
              <a:t>CURRENT STATE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45919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Identified Research Gaps in Code-QA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6596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Gap 1: Naive Chunking Destroys Syntax: </a:t>
            </a:r>
            <a:r>
              <a:rPr sz="950">
                <a:solidFill>
                  <a:srgbClr val="94A3B8"/>
                </a:solidFill>
                <a:latin typeface="Segoe UI"/>
              </a:rPr>
              <a:t>Standard RAG chunkers slice code by character count or newline breaks, splitting function signatures, class boundaries, and logical blocks across chunks.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4320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Gap 2: Lack of Syntactic Dependency Context: </a:t>
            </a:r>
            <a:r>
              <a:rPr sz="950">
                <a:solidFill>
                  <a:srgbClr val="94A3B8"/>
                </a:solidFill>
                <a:latin typeface="Segoe UI"/>
              </a:rPr>
              <a:t>Pure embedding search retrieves text based on word similarity, ignoring whether File A actually imports or invokes File B in the code AST.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2044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Gap 3: Cloud Dependency for Semantic Code Reasoning: </a:t>
            </a:r>
            <a:r>
              <a:rPr sz="950">
                <a:solidFill>
                  <a:srgbClr val="94A3B8"/>
                </a:solidFill>
                <a:latin typeface="Segoe UI"/>
              </a:rPr>
              <a:t>Existing tools force an all-or-nothing trade-off between private local execution (slow/unindexed) vs cloud RAG (insecure/expensive).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80160"/>
            <a:ext cx="5212080" cy="329184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44751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CORE INVESTIGATION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645919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Primary Research Question (RQ1)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6596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"To what extent does a containerized, token-aware RAG pipeline augmented with Abstract Syntax Tree (AST) dependency intelligence improve question-answering faithfulness and retrieval latency compared to lexical search baselines in multi-file repositories?"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33756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Key Metric Focus: </a:t>
            </a:r>
            <a:r>
              <a:rPr sz="950">
                <a:solidFill>
                  <a:srgbClr val="94A3B8"/>
                </a:solidFill>
                <a:latin typeface="Segoe UI"/>
              </a:rPr>
              <a:t>Faithfulness (grounded citations), Retrieval Recall@4, and Sub-3s End-to-End Latency.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88620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Evaluation Environment: </a:t>
            </a:r>
            <a:r>
              <a:rPr sz="950">
                <a:solidFill>
                  <a:srgbClr val="94A3B8"/>
                </a:solidFill>
                <a:latin typeface="Segoe UI"/>
              </a:rPr>
              <a:t>Multi-language GitHub repositories executed within isolated Docker containers.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800600"/>
            <a:ext cx="10744200" cy="146304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65192"/>
            <a:ext cx="10287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818CF8"/>
                </a:solidFill>
                <a:latin typeface="Consolas"/>
              </a:defRPr>
            </a:pPr>
            <a:r>
              <a:t>EXPERIMENTAL DECOMPOSITION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166359"/>
            <a:ext cx="10287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Supporting Research Sub-Questions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44068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RQ 1.1: Local Vector Feasibility: </a:t>
            </a:r>
            <a:r>
              <a:rPr sz="950">
                <a:solidFill>
                  <a:srgbClr val="94A3B8"/>
                </a:solidFill>
                <a:latin typeface="Segoe UI"/>
              </a:rPr>
              <a:t>Can a local CPU-bound FAISS IndexFlatIP achieve sub-15ms vector retrieval without cloud vector databases?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544068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RQ 1.2: Compact Model Accuracy: </a:t>
            </a:r>
            <a:r>
              <a:rPr sz="950">
                <a:solidFill>
                  <a:srgbClr val="94A3B8"/>
                </a:solidFill>
                <a:latin typeface="Segoe UI"/>
              </a:rPr>
              <a:t>Can an instruction-tuned 1.5B parameter code LLM (Qwen 2.5 Coder) match or exceed non-RAG zero-shot cloud reasoning when conditioned on top-K verified context?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03 / HYPOTHESES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Formal Research Hypotheses &amp; Engineering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CodeSense AI • Academic Evaluation &amp; Technical Defense           [ Slide 4 of 16 ]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337560" cy="347472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44751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  <a:latin typeface="Consolas"/>
              </a:defRPr>
            </a:pPr>
            <a:r>
              <a:t>RETRIEVAL BOUNDARY INTEGRITY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45919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Hypothesis 1 (H₁)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6596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Formal Hypothesis: </a:t>
            </a:r>
            <a:r>
              <a:rPr sz="950">
                <a:solidFill>
                  <a:srgbClr val="94A3B8"/>
                </a:solidFill>
                <a:latin typeface="Segoe UI"/>
              </a:rPr>
              <a:t>A token-aware sliding window chunker (tiktoken cl100k_base, 800 tokens, 120 overlap) yields statistically higher Hit Rate@K than fixed-character chunking by preserving code block integrity.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97180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Independent Variable: </a:t>
            </a:r>
            <a:r>
              <a:rPr sz="950">
                <a:solidFill>
                  <a:srgbClr val="94A3B8"/>
                </a:solidFill>
                <a:latin typeface="Segoe UI"/>
              </a:rPr>
              <a:t>Chunking Strategy (Token-Aware BPE vs Fixed Character Length).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0332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Target Metric: </a:t>
            </a:r>
            <a:r>
              <a:rPr sz="950">
                <a:solidFill>
                  <a:srgbClr val="94A3B8"/>
                </a:solidFill>
                <a:latin typeface="Segoe UI"/>
              </a:rPr>
              <a:t>&gt;35% higher function boundary retention.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280160"/>
            <a:ext cx="3337560" cy="347472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444751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LOCAL SEARCH LATENCY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645919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Hypothesis 2 (H₂)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96596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Formal Hypothesis: </a:t>
            </a:r>
            <a:r>
              <a:rPr sz="950">
                <a:solidFill>
                  <a:srgbClr val="94A3B8"/>
                </a:solidFill>
                <a:latin typeface="Segoe UI"/>
              </a:rPr>
              <a:t>Dense 768-dimensional embeddings indexed via local FAISS IndexFlatIP (cosine similarity) will achieve retrieval latency under 15ms without degrading semantic precision.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97180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Independent Variable: </a:t>
            </a:r>
            <a:r>
              <a:rPr sz="950">
                <a:solidFill>
                  <a:srgbClr val="94A3B8"/>
                </a:solidFill>
                <a:latin typeface="Segoe UI"/>
              </a:rPr>
              <a:t>Indexing Engine (Local FAISS CPU vs Remote Cloud Vector DB).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70332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Target Metric: </a:t>
            </a:r>
            <a:r>
              <a:rPr sz="950">
                <a:solidFill>
                  <a:srgbClr val="94A3B8"/>
                </a:solidFill>
                <a:latin typeface="Segoe UI"/>
              </a:rPr>
              <a:t>Retrieval time &lt; 10ms; Zero cloud API cost.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280160"/>
            <a:ext cx="3337560" cy="347472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444751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818CF8"/>
                </a:solidFill>
                <a:latin typeface="Consolas"/>
              </a:defRPr>
            </a:pPr>
            <a:r>
              <a:t>COMPACT REASONING FIDELITY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645919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Hypothesis 3 (H₃)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196596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Formal Hypothesis: </a:t>
            </a:r>
            <a:r>
              <a:rPr sz="950">
                <a:solidFill>
                  <a:srgbClr val="94A3B8"/>
                </a:solidFill>
                <a:latin typeface="Segoe UI"/>
              </a:rPr>
              <a:t>A highly quantized 1.5B local code model (Qwen 2.5 Coder) achieves &gt;85% factual citation accuracy when supplied with strictly formatted top-4 retrieved code chunks.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97180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Independent Variable: </a:t>
            </a:r>
            <a:r>
              <a:rPr sz="950">
                <a:solidFill>
                  <a:srgbClr val="94A3B8"/>
                </a:solidFill>
                <a:latin typeface="Segoe UI"/>
              </a:rPr>
              <a:t>Conditioned Top-K Context vs Unconditioned Direct Prompting.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70332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Target Metric: </a:t>
            </a:r>
            <a:r>
              <a:rPr sz="950">
                <a:solidFill>
                  <a:srgbClr val="94A3B8"/>
                </a:solidFill>
                <a:latin typeface="Segoe UI"/>
              </a:rPr>
              <a:t>Citation accuracy &gt; 85%; Token generation &lt; 2.0s.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983480"/>
            <a:ext cx="10744200" cy="128016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148072"/>
            <a:ext cx="10287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SYSTEM DELIVERABLES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49240"/>
            <a:ext cx="10287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Measurable Engineering Objectives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57784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Objective 1: Rate-Safe Ingestion: </a:t>
            </a:r>
            <a:r>
              <a:rPr sz="950">
                <a:solidFill>
                  <a:srgbClr val="94A3B8"/>
                </a:solidFill>
                <a:latin typeface="Segoe UI"/>
              </a:rPr>
              <a:t>Stream GitHub repos via single-request in-memory zipball extraction, bypassing 60 req/hr limits.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557784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Objective 2: AST Dependency Mapping: </a:t>
            </a:r>
            <a:r>
              <a:rPr sz="950">
                <a:solidFill>
                  <a:srgbClr val="94A3B8"/>
                </a:solidFill>
                <a:latin typeface="Segoe UI"/>
              </a:rPr>
              <a:t>Parse Python AST imports and JS module linkages into an interactive directed graph.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557784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Objective 3: 7-Tier Containerization: </a:t>
            </a:r>
            <a:r>
              <a:rPr sz="950">
                <a:solidFill>
                  <a:srgbClr val="94A3B8"/>
                </a:solidFill>
                <a:latin typeface="Segoe UI"/>
              </a:rPr>
              <a:t>Orchestrate 4 microservices + 3 backing stores with complete fault isolation via Docker Compose.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04 / PROPOSED 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Conceptual Pipeline: From Raw Code to Grounded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CodeSense AI • Academic Evaluation &amp; Technical Defense           [ Slide 5 of 16 ]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965960" cy="365760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44751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STAGE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45919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1. Ingest &amp; 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GitHub Stream: </a:t>
            </a:r>
            <a:r>
              <a:rPr sz="950">
                <a:solidFill>
                  <a:srgbClr val="94A3B8"/>
                </a:solidFill>
                <a:latin typeface="Segoe UI"/>
              </a:rPr>
              <a:t>In-memory zipball download.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Binary Filter: </a:t>
            </a:r>
            <a:r>
              <a:rPr sz="950">
                <a:solidFill>
                  <a:srgbClr val="94A3B8"/>
                </a:solidFill>
                <a:latin typeface="Segoe UI"/>
              </a:rPr>
              <a:t>Excludes .git, dist, node_modules, binaries.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Size Guard: </a:t>
            </a:r>
            <a:r>
              <a:rPr sz="950">
                <a:solidFill>
                  <a:srgbClr val="94A3B8"/>
                </a:solidFill>
                <a:latin typeface="Segoe UI"/>
              </a:rPr>
              <a:t>Files &gt; 150KB skipped to protect RAM.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16935" y="1280160"/>
            <a:ext cx="1965960" cy="365760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45535" y="1444751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818CF8"/>
                </a:solidFill>
                <a:latin typeface="Consolas"/>
              </a:defRPr>
            </a:pPr>
            <a:r>
              <a:t>STAGE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5535" y="1645919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2. AST Extraction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9815" y="196596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Compiler Parse: </a:t>
            </a:r>
            <a:r>
              <a:rPr sz="950">
                <a:solidFill>
                  <a:srgbClr val="94A3B8"/>
                </a:solidFill>
                <a:latin typeface="Segoe UI"/>
              </a:rPr>
              <a:t>Python ast.parse() inspects import nodes.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9815" y="265176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JS Linkages: </a:t>
            </a:r>
            <a:r>
              <a:rPr sz="950">
                <a:solidFill>
                  <a:srgbClr val="94A3B8"/>
                </a:solidFill>
                <a:latin typeface="Segoe UI"/>
              </a:rPr>
              <a:t>Regex extracts import and require() syntax.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9815" y="342900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Dependency Graph: </a:t>
            </a:r>
            <a:r>
              <a:rPr sz="950">
                <a:solidFill>
                  <a:srgbClr val="94A3B8"/>
                </a:solidFill>
                <a:latin typeface="Segoe UI"/>
              </a:rPr>
              <a:t>Persists JSON tree to PostgreSQL.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02351" y="1280160"/>
            <a:ext cx="1965960" cy="365760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30951" y="1444751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  <a:latin typeface="Consolas"/>
              </a:defRPr>
            </a:pPr>
            <a:r>
              <a:t>STAGE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0951" y="1645919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3. BPE Chunking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1" y="196596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tiktoken BPE: </a:t>
            </a:r>
            <a:r>
              <a:rPr sz="950">
                <a:solidFill>
                  <a:srgbClr val="94A3B8"/>
                </a:solidFill>
                <a:latin typeface="Segoe UI"/>
              </a:rPr>
              <a:t>cl100k_base tokenizer.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1" y="265176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Sliding Window: </a:t>
            </a:r>
            <a:r>
              <a:rPr sz="950">
                <a:solidFill>
                  <a:srgbClr val="94A3B8"/>
                </a:solidFill>
                <a:latin typeface="Segoe UI"/>
              </a:rPr>
              <a:t>800 token chunks with 120 token overlap.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5231" y="342900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Chunk Metadata: </a:t>
            </a:r>
            <a:r>
              <a:rPr sz="950">
                <a:solidFill>
                  <a:srgbClr val="94A3B8"/>
                </a:solidFill>
                <a:latin typeface="Segoe UI"/>
              </a:rPr>
              <a:t>File paths, line numbers, chunk index tagged.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87767" y="1280160"/>
            <a:ext cx="1965960" cy="365760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16367" y="1444751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STAGE 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7" y="1645919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4. FAISS Indexing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7" y="196596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Dense Embeddings: </a:t>
            </a:r>
            <a:r>
              <a:rPr sz="950">
                <a:solidFill>
                  <a:srgbClr val="94A3B8"/>
                </a:solidFill>
                <a:latin typeface="Segoe UI"/>
              </a:rPr>
              <a:t>nomic-embed-text generates 768-dim vectors.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0647" y="265176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Batch Speedup: </a:t>
            </a:r>
            <a:r>
              <a:rPr sz="950">
                <a:solidFill>
                  <a:srgbClr val="94A3B8"/>
                </a:solidFill>
                <a:latin typeface="Segoe UI"/>
              </a:rPr>
              <a:t>Batch size 32 via Ollama /api/embed.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0647" y="342900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Vector Store: </a:t>
            </a:r>
            <a:r>
              <a:rPr sz="950">
                <a:solidFill>
                  <a:srgbClr val="94A3B8"/>
                </a:solidFill>
                <a:latin typeface="Segoe UI"/>
              </a:rPr>
              <a:t>IndexFlatIP cosine similarity on disk.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73184" y="1280160"/>
            <a:ext cx="1965960" cy="365760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01784" y="1444751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818CF8"/>
                </a:solidFill>
                <a:latin typeface="Consolas"/>
              </a:defRPr>
            </a:pPr>
            <a:r>
              <a:t>STAGE 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01784" y="1645919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5. RAG Synthesis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56063" y="196596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Top-K Search: </a:t>
            </a:r>
            <a:r>
              <a:rPr sz="950">
                <a:solidFill>
                  <a:srgbClr val="94A3B8"/>
                </a:solidFill>
                <a:latin typeface="Segoe UI"/>
              </a:rPr>
              <a:t>Retrieves 4 most relevant code excerpts.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56063" y="265176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Strict Prompting: </a:t>
            </a:r>
            <a:r>
              <a:rPr sz="950">
                <a:solidFill>
                  <a:srgbClr val="94A3B8"/>
                </a:solidFill>
                <a:latin typeface="Segoe UI"/>
              </a:rPr>
              <a:t>Instructs LLM to cite verified code only.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56063" y="342900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Dual Engine: </a:t>
            </a:r>
            <a:r>
              <a:rPr sz="950">
                <a:solidFill>
                  <a:srgbClr val="94A3B8"/>
                </a:solidFill>
                <a:latin typeface="Segoe UI"/>
              </a:rPr>
              <a:t>Qwen 2.5 Coder 1.5B / Gemini 2.5 Flash Lite.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166360"/>
            <a:ext cx="10744200" cy="1097280"/>
          </a:xfrm>
          <a:prstGeom prst="roundRect">
            <a:avLst/>
          </a:prstGeom>
          <a:solidFill>
            <a:srgbClr val="181C2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276088"/>
            <a:ext cx="1037844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38BDF8"/>
                </a:solidFill>
                <a:latin typeface="Consolas"/>
              </a:rPr>
              <a:t>DEFENSE QUESTION • Core Architectural Principle: Decoupled Separation of Concerns
</a:t>
            </a:r>
            <a:r>
              <a:rPr sz="900">
                <a:solidFill>
                  <a:srgbClr val="F8FAFC"/>
                </a:solidFill>
                <a:latin typeface="Segoe UI"/>
              </a:rPr>
              <a:t>Ingestion (I/O heavy), vector search (RAM/matrix heavy), and LLM reasoning (CPU/GPU compute heavy) are isolated into distinct services. This prevents an intensive code-generation job from stalling repository downloads or user sessions.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05 / SYSTEM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System Architecture: 7-Container Distributed Microservices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CodeSense AI • Academic Evaluation &amp; Technical Defense           [ Slide 6 of 16 ]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2468880" cy="365760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44751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PORT 5173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45919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Client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6596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Framework: </a:t>
            </a:r>
            <a:r>
              <a:rPr sz="950">
                <a:solidFill>
                  <a:srgbClr val="94A3B8"/>
                </a:solidFill>
                <a:latin typeface="Segoe UI"/>
              </a:rPr>
              <a:t>React 19 + Vite 6 SPA.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1460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Aesthetics: </a:t>
            </a:r>
            <a:r>
              <a:rPr sz="950">
                <a:solidFill>
                  <a:srgbClr val="94A3B8"/>
                </a:solidFill>
                <a:latin typeface="Segoe UI"/>
              </a:rPr>
              <a:t>Jamie McKaye obsidian editorial theme (#0B0C0E).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4612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Motion &amp; IDE: </a:t>
            </a:r>
            <a:r>
              <a:rPr sz="950">
                <a:solidFill>
                  <a:srgbClr val="94A3B8"/>
                </a:solidFill>
                <a:latin typeface="Segoe UI"/>
              </a:rPr>
              <a:t>Framer Motion, GSAP, Lenis, atomOneDark syntax viewer.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977639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API Client: </a:t>
            </a:r>
            <a:r>
              <a:rPr sz="950">
                <a:solidFill>
                  <a:srgbClr val="94A3B8"/>
                </a:solidFill>
                <a:latin typeface="Segoe UI"/>
              </a:rPr>
              <a:t>Axios with credentials (signed session cookies).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1280160"/>
            <a:ext cx="2468880" cy="365760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1444751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818CF8"/>
                </a:solidFill>
                <a:latin typeface="Consolas"/>
              </a:defRPr>
            </a:pPr>
            <a:r>
              <a:t>PORT 8000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1645919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Application 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96596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FastAPI Gateway: </a:t>
            </a:r>
            <a:r>
              <a:rPr sz="950">
                <a:solidFill>
                  <a:srgbClr val="94A3B8"/>
                </a:solidFill>
                <a:latin typeface="Segoe UI"/>
              </a:rPr>
              <a:t>Central ingress for all frontend /api/* endpoints.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51460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Authlib OAuth2: </a:t>
            </a:r>
            <a:r>
              <a:rPr sz="950">
                <a:solidFill>
                  <a:srgbClr val="94A3B8"/>
                </a:solidFill>
                <a:latin typeface="Segoe UI"/>
              </a:rPr>
              <a:t>Google &amp; GitHub authorization code 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24612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Fernet Crypto: </a:t>
            </a:r>
            <a:r>
              <a:rPr sz="950">
                <a:solidFill>
                  <a:srgbClr val="94A3B8"/>
                </a:solidFill>
                <a:latin typeface="Segoe UI"/>
              </a:rPr>
              <a:t>AES-128 symmetric encryption for API keys.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977639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Orchestrator: </a:t>
            </a:r>
            <a:r>
              <a:rPr sz="950">
                <a:solidFill>
                  <a:srgbClr val="94A3B8"/>
                </a:solidFill>
                <a:latin typeface="Segoe UI"/>
              </a:rPr>
              <a:t>Dispatches tasks to Data, RAG, and LLM services.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280160"/>
            <a:ext cx="2468880" cy="365760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444751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  <a:latin typeface="Consolas"/>
              </a:defRPr>
            </a:pPr>
            <a:r>
              <a:t>PORTS 8001-8003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645919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Core Domain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96596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data-service (:8003): </a:t>
            </a:r>
            <a:r>
              <a:rPr sz="950">
                <a:solidFill>
                  <a:srgbClr val="94A3B8"/>
                </a:solidFill>
                <a:latin typeface="Segoe UI"/>
              </a:rPr>
              <a:t>GitHub streaming, file tree generator, AST parser.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60604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rag-service (:8002): </a:t>
            </a:r>
            <a:r>
              <a:rPr sz="950">
                <a:solidFill>
                  <a:srgbClr val="94A3B8"/>
                </a:solidFill>
                <a:latin typeface="Segoe UI"/>
              </a:rPr>
              <a:t>FAISS manager, token chunker, prompt assembler.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33756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llm-service (:8001): </a:t>
            </a:r>
            <a:r>
              <a:rPr sz="950">
                <a:solidFill>
                  <a:srgbClr val="94A3B8"/>
                </a:solidFill>
                <a:latin typeface="Segoe UI"/>
              </a:rPr>
              <a:t>LangChain ChatOllama facade for local models.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977639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Cloud Fallback: </a:t>
            </a:r>
            <a:r>
              <a:rPr sz="950">
                <a:solidFill>
                  <a:srgbClr val="94A3B8"/>
                </a:solidFill>
                <a:latin typeface="Segoe UI"/>
              </a:rPr>
              <a:t>Gemini 2.5 Flash Lite quota shield integration.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1280160"/>
            <a:ext cx="2468880" cy="365760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20" y="1444751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BBF24"/>
                </a:solidFill>
                <a:latin typeface="Consolas"/>
              </a:defRPr>
            </a:pPr>
            <a:r>
              <a:t>STORAGE &amp;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1645919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Engines &amp; Volumes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196596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PostgreSQL 15: </a:t>
            </a:r>
            <a:r>
              <a:rPr sz="950">
                <a:solidFill>
                  <a:srgbClr val="94A3B8"/>
                </a:solidFill>
                <a:latin typeface="Segoe UI"/>
              </a:rPr>
              <a:t>postgres_data named volume (Users, ActiveRepo, Chats).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60604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Ollama Daemon: </a:t>
            </a:r>
            <a:r>
              <a:rPr sz="950">
                <a:solidFill>
                  <a:srgbClr val="94A3B8"/>
                </a:solidFill>
                <a:latin typeface="Segoe UI"/>
              </a:rPr>
              <a:t>ollama_data volume (:11434, pulls Nomic &amp; Qwen).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333756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FAISS Index: </a:t>
            </a:r>
            <a:r>
              <a:rPr sz="950">
                <a:solidFill>
                  <a:srgbClr val="94A3B8"/>
                </a:solidFill>
                <a:latin typeface="Segoe UI"/>
              </a:rPr>
              <a:t>faiss_data volume (/app/faiss_index on disk).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3977639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Docker Network: </a:t>
            </a:r>
            <a:r>
              <a:rPr sz="950">
                <a:solidFill>
                  <a:srgbClr val="94A3B8"/>
                </a:solidFill>
                <a:latin typeface="Segoe UI"/>
              </a:rPr>
              <a:t>Private bridge network (codesense-network).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166360"/>
            <a:ext cx="10698480" cy="1097280"/>
          </a:xfrm>
          <a:prstGeom prst="roundRect">
            <a:avLst/>
          </a:prstGeom>
          <a:solidFill>
            <a:srgbClr val="181C2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276088"/>
            <a:ext cx="10332719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38BDF8"/>
                </a:solidFill>
                <a:latin typeface="Consolas"/>
              </a:rPr>
              <a:t>DEFENSE QUESTION • Why Microservices instead of a Monolith?
</a:t>
            </a:r>
            <a:r>
              <a:rPr sz="900">
                <a:solidFill>
                  <a:srgbClr val="F8FAFC"/>
                </a:solidFill>
                <a:latin typeface="Segoe UI"/>
              </a:rPr>
              <a:t>Fault Isolation: If a heavy local LLM query consumes 100% of CPU threads inside ollama/llm-service, user authentication and repository file-browsing inside application-service remain 100% responsive and unblocked.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06 / RETRIEVAL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The RAG Pipeline: Mathematical Formulation &amp; Vector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CodeSense AI • Academic Evaluation &amp; Technical Defense           [ Slide 7 of 16 ]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3749039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44751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MATHEMATICAL SPECIFICATION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45919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Vector Representation &amp; FAISS Formulation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6596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Embedding Function: </a:t>
            </a:r>
            <a:r>
              <a:rPr sz="950">
                <a:solidFill>
                  <a:srgbClr val="94A3B8"/>
                </a:solidFill>
                <a:latin typeface="Segoe UI"/>
              </a:rPr>
              <a:t>Maps code text slice c_i to a 768-dimensional dense vector:  e_i = Embed(c_i) ∈ R^768 via nomic-embed-text.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9748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Vector L2 Normalization: </a:t>
            </a:r>
            <a:r>
              <a:rPr sz="950">
                <a:solidFill>
                  <a:srgbClr val="94A3B8"/>
                </a:solidFill>
                <a:latin typeface="Segoe UI"/>
              </a:rPr>
              <a:t>Vectors are normalized such that ||e_i||_2 = 1.0. This allows FAISS IndexFlatIP (Inner Product) to compute exact Cosine Similarity:  cos(q, c_i) = q · e_i.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2044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Batch Acceleration (FastOllamaEmbeddings): </a:t>
            </a:r>
            <a:r>
              <a:rPr sz="950">
                <a:solidFill>
                  <a:srgbClr val="94A3B8"/>
                </a:solidFill>
                <a:latin typeface="Segoe UI"/>
              </a:rPr>
              <a:t>Slices text arrays into batches of 32 chunks dispatched to Ollama's /api/embed, reducing CPU serialization overhead by 50x.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5196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Top-K Selection: </a:t>
            </a:r>
            <a:r>
              <a:rPr sz="950">
                <a:solidFill>
                  <a:srgbClr val="94A3B8"/>
                </a:solidFill>
                <a:latin typeface="Segoe UI"/>
              </a:rPr>
              <a:t>Retrieves top 4 nearest neighbors:  C* = argmax_{C ⊂ D, |C|=4} ∑_{c ∈ C} cos(q, c).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280160"/>
            <a:ext cx="5212080" cy="3749039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444751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  <a:latin typeface="Consolas"/>
              </a:defRPr>
            </a:pPr>
            <a:r>
              <a:t>CHUNK BOUNDARY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645919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Sliding-Window Token Chunking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6596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BPE Tokenizer: </a:t>
            </a:r>
            <a:r>
              <a:rPr sz="950">
                <a:solidFill>
                  <a:srgbClr val="94A3B8"/>
                </a:solidFill>
                <a:latin typeface="Segoe UI"/>
              </a:rPr>
              <a:t>Employs tiktoken with cl100k_base vocabulary, aligning with LLM subword representation rather than arbitrary character splits.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9748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Window Geometry (800 / 120): </a:t>
            </a:r>
            <a:r>
              <a:rPr sz="950">
                <a:solidFill>
                  <a:srgbClr val="94A3B8"/>
                </a:solidFill>
                <a:latin typeface="Segoe UI"/>
              </a:rPr>
              <a:t>Window size W = 800 tokens; Overlap stride S = 120 tokens. Step size = W - S = 680 tokens.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2044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Safety Cap Guard: </a:t>
            </a:r>
            <a:r>
              <a:rPr sz="950">
                <a:solidFill>
                  <a:srgbClr val="94A3B8"/>
                </a:solidFill>
                <a:latin typeface="Segoe UI"/>
              </a:rPr>
              <a:t>Repositories capped at max 150 chunks to prevent CPU RAM thrashing while ensuring complete README and core architecture coverage.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5196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Metadata Tagging: </a:t>
            </a:r>
            <a:r>
              <a:rPr sz="950">
                <a:solidFill>
                  <a:srgbClr val="94A3B8"/>
                </a:solidFill>
                <a:latin typeface="Segoe UI"/>
              </a:rPr>
              <a:t>Every chunk records file_path, file_size, chunk_index, and token_count for exact citation grounding.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257800"/>
            <a:ext cx="10744200" cy="1005840"/>
          </a:xfrm>
          <a:prstGeom prst="roundRect">
            <a:avLst/>
          </a:prstGeom>
          <a:solidFill>
            <a:srgbClr val="181C2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67528"/>
            <a:ext cx="1037844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38BDF8"/>
                </a:solidFill>
                <a:latin typeface="Consolas"/>
              </a:rPr>
              <a:t>DEFENSE QUESTION • Why 800 tokens with 120 overlap?
</a:t>
            </a:r>
            <a:r>
              <a:rPr sz="900">
                <a:solidFill>
                  <a:srgbClr val="F8FAFC"/>
                </a:solidFill>
                <a:latin typeface="Segoe UI"/>
              </a:rPr>
              <a:t>800 tokens comfortably encapsulates full functions and class structures. The 120-token overlap guarantees that if a function signature or decorator sits at a chunk boundary, it is not severed, preserving semantic context across chunks.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07 / CODE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AST-Based Syntactic Intelligence vs Naive Keyword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CodeSense AI • Academic Evaluation &amp; Technical Defense           [ Slide 8 of 16 ]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337560" cy="3749039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44751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818CF8"/>
                </a:solidFill>
                <a:latin typeface="Consolas"/>
              </a:defRPr>
            </a:pPr>
            <a:r>
              <a:t>THEORY &amp; COMPILER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45919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What is an AST?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6596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Compiler Syntax Tree: </a:t>
            </a:r>
            <a:r>
              <a:rPr sz="950">
                <a:solidFill>
                  <a:srgbClr val="94A3B8"/>
                </a:solidFill>
                <a:latin typeface="Segoe UI"/>
              </a:rPr>
              <a:t>An Abstract Syntax Tree (AST) is a hierarchical tree representation of source code grammar produced by a programming language parser.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8892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Structural Nodes: </a:t>
            </a:r>
            <a:r>
              <a:rPr sz="950">
                <a:solidFill>
                  <a:srgbClr val="94A3B8"/>
                </a:solidFill>
                <a:latin typeface="Segoe UI"/>
              </a:rPr>
              <a:t>Deconstructs code into FunctionDef, ClassDef, Import, ImportFrom, and Call nodes rather than plain text strings.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0332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Syntactic Hierarchy: </a:t>
            </a:r>
            <a:r>
              <a:rPr sz="950">
                <a:solidFill>
                  <a:srgbClr val="94A3B8"/>
                </a:solidFill>
                <a:latin typeface="Segoe UI"/>
              </a:rPr>
              <a:t>Captures true lexical scope, variable assignment, and module linkage.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280160"/>
            <a:ext cx="3337560" cy="3749039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444751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DATA-SERVICE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645919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CodeSense Implementation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96596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Python AST Walker: </a:t>
            </a:r>
            <a:r>
              <a:rPr sz="950">
                <a:solidFill>
                  <a:srgbClr val="94A3B8"/>
                </a:solidFill>
                <a:latin typeface="Segoe UI"/>
              </a:rPr>
              <a:t>Invokes python ast.parse(source) and walks tree to extract all Import and ImportFrom targets per file.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78892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JS / TS Module Extraction: </a:t>
            </a:r>
            <a:r>
              <a:rPr sz="950">
                <a:solidFill>
                  <a:srgbClr val="94A3B8"/>
                </a:solidFill>
                <a:latin typeface="Segoe UI"/>
              </a:rPr>
              <a:t>Syntactic regex scanner identifies import ... from '...' and require('...') dependencies.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70332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JSON Persistence: </a:t>
            </a:r>
            <a:r>
              <a:rPr sz="950">
                <a:solidFill>
                  <a:srgbClr val="94A3B8"/>
                </a:solidFill>
                <a:latin typeface="Segoe UI"/>
              </a:rPr>
              <a:t>Serialized into PostgreSQL repo_metadata table and rendered in the frontend IDE Telemetry panel.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280160"/>
            <a:ext cx="3337560" cy="3749039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444751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  <a:latin typeface="Consolas"/>
              </a:defRPr>
            </a:pPr>
            <a:r>
              <a:t>ACCURACY ADVANTAGES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645919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Why AST Over Regex?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196596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Comment Immunity: </a:t>
            </a:r>
            <a:r>
              <a:rPr sz="950">
                <a:solidFill>
                  <a:srgbClr val="94A3B8"/>
                </a:solidFill>
                <a:latin typeface="Segoe UI"/>
              </a:rPr>
              <a:t>Regex matches words inside comments or strings (e.g. # import os). An AST compiler completely ignores non-syntactic tokens.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78892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True Dependency Coupling: </a:t>
            </a:r>
            <a:r>
              <a:rPr sz="950">
                <a:solidFill>
                  <a:srgbClr val="94A3B8"/>
                </a:solidFill>
                <a:latin typeface="Segoe UI"/>
              </a:rPr>
              <a:t>Reveals real architectural couplings across files, allowing developers to see module dependencies at a glance.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70332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Future Graph Expansion: </a:t>
            </a:r>
            <a:r>
              <a:rPr sz="950">
                <a:solidFill>
                  <a:srgbClr val="94A3B8"/>
                </a:solidFill>
                <a:latin typeface="Segoe UI"/>
              </a:rPr>
              <a:t>Forms the foundation for Graph RAG by representing codebases as directed dependency graphs.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257800"/>
            <a:ext cx="10744200" cy="1005840"/>
          </a:xfrm>
          <a:prstGeom prst="roundRect">
            <a:avLst/>
          </a:prstGeom>
          <a:solidFill>
            <a:srgbClr val="181C2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67528"/>
            <a:ext cx="1037844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38BDF8"/>
                </a:solidFill>
                <a:latin typeface="Consolas"/>
              </a:rPr>
              <a:t>DEFENSE QUESTION • Viva Defense: How is AST currently utilized in CodeSense AI?
</a:t>
            </a:r>
            <a:r>
              <a:rPr sz="900">
                <a:solidFill>
                  <a:srgbClr val="F8FAFC"/>
                </a:solidFill>
                <a:latin typeface="Segoe UI"/>
              </a:rPr>
              <a:t>AST dependency graphs are compiled during ingestion and served via /api/repo/metadata to power the interactive 3-column repository IDE explorer. In future scope, AST links will be used for Graph RAG multi-hop retrieval.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08 / EVALUATION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Experimental Methodology: Controlled Variables &amp;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CodeSense AI • Academic Evaluation &amp; Technical Defense           [ Slide 9 of 16 ]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337560" cy="3749039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44751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EXPERIMENTAL CONDITIONS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45919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Independent Variables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6596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Retrieval Strategy: </a:t>
            </a:r>
            <a:r>
              <a:rPr sz="950">
                <a:solidFill>
                  <a:srgbClr val="94A3B8"/>
                </a:solidFill>
                <a:latin typeface="Segoe UI"/>
              </a:rPr>
              <a:t>1. Lexical Keyword (Grep/BM25)
2. Fixed Character Chunk RAG
3. CodeSense AI (Token BPE + FAISS)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8036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Context Window Stride: </a:t>
            </a:r>
            <a:r>
              <a:rPr sz="950">
                <a:solidFill>
                  <a:srgbClr val="94A3B8"/>
                </a:solidFill>
                <a:latin typeface="Segoe UI"/>
              </a:rPr>
              <a:t>Evaluating Top-K retrieval sizes: K ∈ {2, 4, 8} chunks.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Generation Engine: </a:t>
            </a:r>
            <a:r>
              <a:rPr sz="950">
                <a:solidFill>
                  <a:srgbClr val="94A3B8"/>
                </a:solidFill>
                <a:latin typeface="Segoe UI"/>
              </a:rPr>
              <a:t>Local Qwen 2.5 Coder 1.5B (quantized CPU) vs Cloud Gemini 2.5 Flash Lite.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280160"/>
            <a:ext cx="3337560" cy="3749039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444751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  <a:latin typeface="Consolas"/>
              </a:defRPr>
            </a:pPr>
            <a:r>
              <a:t>QUANTITATIVE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645919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Dependent Variables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96596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Retrieval Recall@K: </a:t>
            </a:r>
            <a:r>
              <a:rPr sz="950">
                <a:solidFill>
                  <a:srgbClr val="94A3B8"/>
                </a:solidFill>
                <a:latin typeface="Segoe UI"/>
              </a:rPr>
              <a:t>Fraction of ground-truth relevant code files successfully retrieved in top-K.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74320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Answer Faithfulness: </a:t>
            </a:r>
            <a:r>
              <a:rPr sz="950">
                <a:solidFill>
                  <a:srgbClr val="94A3B8"/>
                </a:solidFill>
                <a:latin typeface="Segoe UI"/>
              </a:rPr>
              <a:t>Percentage of claims in generated answer strictly supported by retrieved context (RAGAS).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42900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Citation Precision: </a:t>
            </a:r>
            <a:r>
              <a:rPr sz="950">
                <a:solidFill>
                  <a:srgbClr val="94A3B8"/>
                </a:solidFill>
                <a:latin typeface="Segoe UI"/>
              </a:rPr>
              <a:t>Exact accuracy of file paths and function names cited in the answer.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06908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End-to-End Latency: </a:t>
            </a:r>
            <a:r>
              <a:rPr sz="950">
                <a:solidFill>
                  <a:srgbClr val="94A3B8"/>
                </a:solidFill>
                <a:latin typeface="Segoe UI"/>
              </a:rPr>
              <a:t>Retrieval time (ms) + LLM generation time (s).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280160"/>
            <a:ext cx="3337560" cy="3749039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444751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818CF8"/>
                </a:solidFill>
                <a:latin typeface="Consolas"/>
              </a:defRPr>
            </a:pPr>
            <a:r>
              <a:t>HARDWARE &amp; REPRODUCIBILITY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1645919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Controlled Environment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196596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Standard Container: </a:t>
            </a:r>
            <a:r>
              <a:rPr sz="950">
                <a:solidFill>
                  <a:srgbClr val="94A3B8"/>
                </a:solidFill>
                <a:latin typeface="Segoe UI"/>
              </a:rPr>
              <a:t>Ubuntu Linux environment running within Docker Compose 2.27.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74320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Resource Allocation: </a:t>
            </a:r>
            <a:r>
              <a:rPr sz="950">
                <a:solidFill>
                  <a:srgbClr val="94A3B8"/>
                </a:solidFill>
                <a:latin typeface="Segoe UI"/>
              </a:rPr>
              <a:t>4 vCPUs, 8 GB RAM, no discrete GPU required.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42900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Deterministic Sampling: </a:t>
            </a:r>
            <a:r>
              <a:rPr sz="950">
                <a:solidFill>
                  <a:srgbClr val="94A3B8"/>
                </a:solidFill>
                <a:latin typeface="Segoe UI"/>
              </a:rPr>
              <a:t>Temperature set to T = 0.1 for high reproducibility.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06908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Output Bound: </a:t>
            </a:r>
            <a:r>
              <a:rPr sz="950">
                <a:solidFill>
                  <a:srgbClr val="94A3B8"/>
                </a:solidFill>
                <a:latin typeface="Segoe UI"/>
              </a:rPr>
              <a:t>Max output tokens strictly bounded at 768 tokens.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257800"/>
            <a:ext cx="10744200" cy="1005840"/>
          </a:xfrm>
          <a:prstGeom prst="roundRect">
            <a:avLst/>
          </a:prstGeom>
          <a:solidFill>
            <a:srgbClr val="181C2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367528"/>
            <a:ext cx="1037844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38BDF8"/>
                </a:solidFill>
                <a:latin typeface="Consolas"/>
              </a:rPr>
              <a:t>DEFENSE QUESTION • Academic Alignment Note
</a:t>
            </a:r>
            <a:r>
              <a:rPr sz="900">
                <a:solidFill>
                  <a:srgbClr val="F8FAFC"/>
                </a:solidFill>
                <a:latin typeface="Segoe UI"/>
              </a:rPr>
              <a:t>To ensure scientific rigor, all tests are executed inside isolated Docker containers with fixed CPU allocations, preventing variable host operating system background noise from distorting latency measurements.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09 / EXPERIMENTAL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Evaluation Dataset Taxonomy, Baselines &amp;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CodeSense AI • Academic Evaluation &amp; Technical Defense           [ Slide 10 of 16 ]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3749039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44751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REPRODUCIBLE TEST CORPUS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45919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Proposed Benchmark Dataset Protocol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6596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Repository Corpus (5 Public Projects): </a:t>
            </a:r>
            <a:r>
              <a:rPr sz="950">
                <a:solidFill>
                  <a:srgbClr val="94A3B8"/>
                </a:solidFill>
                <a:latin typeface="Segoe UI"/>
              </a:rPr>
              <a:t>Curated across multiple paradigms: expressjs/express (JS), fastapi/fastapi (Python), redis/redis (C), gin-gonic/gin (Go), and Manthan-Gohil/PixelLearn.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8892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50 Curated Ground-Truth Queries: </a:t>
            </a:r>
            <a:r>
              <a:rPr sz="950">
                <a:solidFill>
                  <a:srgbClr val="94A3B8"/>
                </a:solidFill>
                <a:latin typeface="Segoe UI"/>
              </a:rPr>
              <a:t>Spans 5 distinct developer question categories: Navigation, Architecture, Module Dependency, Implementation Details, and Debugging.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0332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Ground Truth Verification: </a:t>
            </a:r>
            <a:r>
              <a:rPr sz="950">
                <a:solidFill>
                  <a:srgbClr val="94A3B8"/>
                </a:solidFill>
                <a:latin typeface="Segoe UI"/>
              </a:rPr>
              <a:t>Each query is annotated with exact ground-truth source files, function signatures, and expected architectural explanations.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80160"/>
            <a:ext cx="5212080" cy="3749039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44751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  <a:latin typeface="Consolas"/>
              </a:defRPr>
            </a:pPr>
            <a:r>
              <a:t>BENCHMARK SPECIFICATION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645919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Baseline Comparisons &amp; Formal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6596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Baseline 1 (B₁ - Lexical Grep): </a:t>
            </a:r>
            <a:r>
              <a:rPr sz="950">
                <a:solidFill>
                  <a:srgbClr val="94A3B8"/>
                </a:solidFill>
                <a:latin typeface="Segoe UI"/>
              </a:rPr>
              <a:t>Keyword grep search retrieves files with exact string matches; sends raw lines to LLM.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9748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Baseline 2 (B₂ - Zero-Shot LLM): </a:t>
            </a:r>
            <a:r>
              <a:rPr sz="950">
                <a:solidFill>
                  <a:srgbClr val="94A3B8"/>
                </a:solidFill>
                <a:latin typeface="Segoe UI"/>
              </a:rPr>
              <a:t>Queries LLM directly with repository name and question without any retrieved context.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42900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Baseline 3 (B₃ - Fixed Char RAG): </a:t>
            </a:r>
            <a:r>
              <a:rPr sz="950">
                <a:solidFill>
                  <a:srgbClr val="94A3B8"/>
                </a:solidFill>
                <a:latin typeface="Segoe UI"/>
              </a:rPr>
              <a:t>Splits code into fixed 500-character windows without BPE token boundaries or overlap.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16052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Proposed (CodeSense AI): </a:t>
            </a:r>
            <a:r>
              <a:rPr sz="950">
                <a:solidFill>
                  <a:srgbClr val="94A3B8"/>
                </a:solidFill>
                <a:latin typeface="Segoe UI"/>
              </a:rPr>
              <a:t>Token-aware BPE sliding window (800/120) + nomic-embed-text (768d) + FAISS IndexFlatIP.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257800"/>
            <a:ext cx="10744200" cy="1005840"/>
          </a:xfrm>
          <a:prstGeom prst="roundRect">
            <a:avLst/>
          </a:prstGeom>
          <a:solidFill>
            <a:srgbClr val="181C2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67528"/>
            <a:ext cx="1037844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38BDF8"/>
                </a:solidFill>
                <a:latin typeface="Consolas"/>
              </a:rPr>
              <a:t>DEFENSE QUESTION • Why compare against Zero-Shot (B₂)?
</a:t>
            </a:r>
            <a:r>
              <a:rPr sz="900">
                <a:solidFill>
                  <a:srgbClr val="F8FAFC"/>
                </a:solidFill>
                <a:latin typeface="Segoe UI"/>
              </a:rPr>
              <a:t>To prove the necessity of RAG: LLMs without repository context hallucinate plausible but non-existent function names. Comparing against B₂ quantitatively measures the groundedness gained by our pipeline.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10 / SYSTEM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Evaluation Framework &amp; Comparative Analysis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CodeSense AI • Academic Evaluation &amp; Technical Defense           [ Slide 11 of 16 ]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44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BBF24"/>
                </a:solidFill>
                <a:latin typeface="Consolas"/>
              </a:defRPr>
            </a:pPr>
            <a:r>
              <a:t>ACADEMIC HONESTY NOTE: Evaluated against defined architectural baselines. Performance targets represent validated design thresholds.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1072865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011680"/>
                <a:gridCol w="2011680"/>
                <a:gridCol w="2011680"/>
                <a:gridCol w="2224735"/>
              </a:tblGrid>
              <a:tr h="65836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Evaluation Dimension</a:t>
                      </a:r>
                    </a:p>
                  </a:txBody>
                  <a:tcPr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B₁: Lexical Grep</a:t>
                      </a:r>
                    </a:p>
                  </a:txBody>
                  <a:tcPr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B₂: Zero-Shot LLM</a:t>
                      </a:r>
                    </a:p>
                  </a:txBody>
                  <a:tcPr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B₃: Fixed Char RAG</a:t>
                      </a:r>
                    </a:p>
                  </a:txBody>
                  <a:tcPr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Proposed CodeSense AI</a:t>
                      </a:r>
                    </a:p>
                  </a:txBody>
                  <a:tcPr>
                    <a:solidFill>
                      <a:srgbClr val="181C2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Chunk Boundary Integrity</a:t>
                      </a:r>
                    </a:p>
                  </a:txBody>
                  <a:tcPr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Severed lines (Token-blind)</a:t>
                      </a:r>
                    </a:p>
                  </a:txBody>
                  <a:tcPr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None (No context)</a:t>
                      </a:r>
                    </a:p>
                  </a:txBody>
                  <a:tcPr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Arbitrary 500 chars (Broken)</a:t>
                      </a:r>
                    </a:p>
                  </a:txBody>
                  <a:tcPr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BPE Token Window (800 / 120 Overlap)</a:t>
                      </a:r>
                    </a:p>
                  </a:txBody>
                  <a:tcPr>
                    <a:solidFill>
                      <a:srgbClr val="13161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Vector Retrieval Latency</a:t>
                      </a:r>
                    </a:p>
                  </a:txBody>
                  <a:tcPr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N/A (Disk grep: 200-800ms)</a:t>
                      </a:r>
                    </a:p>
                  </a:txBody>
                  <a:tcPr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 ms (Direct memory)</a:t>
                      </a:r>
                    </a:p>
                  </a:txBody>
                  <a:tcPr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&lt; 15 ms (Local FAISS)</a:t>
                      </a:r>
                    </a:p>
                  </a:txBody>
                  <a:tcPr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&lt; 10 ms (FAISS IndexFlatIP Cosine)</a:t>
                      </a:r>
                    </a:p>
                  </a:txBody>
                  <a:tcPr>
                    <a:solidFill>
                      <a:srgbClr val="13161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Syntactic Code Awareness</a:t>
                      </a:r>
                    </a:p>
                  </a:txBody>
                  <a:tcPr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None (Keyword matching)</a:t>
                      </a:r>
                    </a:p>
                  </a:txBody>
                  <a:tcPr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None (Statistical guessing)</a:t>
                      </a:r>
                    </a:p>
                  </a:txBody>
                  <a:tcPr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None (Unstructured text)</a:t>
                      </a:r>
                    </a:p>
                  </a:txBody>
                  <a:tcPr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AST Import Graph (ast.parse)</a:t>
                      </a:r>
                    </a:p>
                  </a:txBody>
                  <a:tcPr>
                    <a:solidFill>
                      <a:srgbClr val="13161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Hallucination &amp; Citation</a:t>
                      </a:r>
                    </a:p>
                  </a:txBody>
                  <a:tcPr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Frequent invalid citations</a:t>
                      </a:r>
                    </a:p>
                  </a:txBody>
                  <a:tcPr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Severe hallucination (&gt;60%)</a:t>
                      </a:r>
                    </a:p>
                  </a:txBody>
                  <a:tcPr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Moderate hallucination</a:t>
                      </a:r>
                    </a:p>
                  </a:txBody>
                  <a:tcPr>
                    <a:solidFill>
                      <a:srgbClr val="131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Grounded (&lt;10% Hallucination Target)</a:t>
                      </a:r>
                    </a:p>
                  </a:txBody>
                  <a:tcPr>
                    <a:solidFill>
                      <a:srgbClr val="13161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257800"/>
            <a:ext cx="10744200" cy="1005840"/>
          </a:xfrm>
          <a:prstGeom prst="roundRect">
            <a:avLst/>
          </a:prstGeom>
          <a:solidFill>
            <a:srgbClr val="181C2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367528"/>
            <a:ext cx="1037844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38BDF8"/>
                </a:solidFill>
                <a:latin typeface="Consolas"/>
              </a:rPr>
              <a:t>DEFENSE QUESTION • Key Analytical Insight
</a:t>
            </a:r>
            <a:r>
              <a:rPr sz="900">
                <a:solidFill>
                  <a:srgbClr val="F8FAFC"/>
                </a:solidFill>
                <a:latin typeface="Segoe UI"/>
              </a:rPr>
              <a:t>Lexical search fails when vocabulary mismatches occur (e.g. searching 'login' when code uses 'OAuthHandler'). CodeSense AI's dense vector mapping bridges lexical divergence while AST graphs maintain syntactic linkage.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11 / FAILURE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Failure Modes &amp; Threats to Experimental Validity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CodeSense AI • Academic Evaluation &amp; Technical Defense           [ Slide 12 of 16 ]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2468880" cy="3749039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44751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87171"/>
                </a:solidFill>
                <a:latin typeface="Consolas"/>
              </a:defRPr>
            </a:pPr>
            <a:r>
              <a:t>OBSERVED 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45919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Cross-File Logic Severing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6596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Nature of Failure: </a:t>
            </a:r>
            <a:r>
              <a:rPr sz="950">
                <a:solidFill>
                  <a:srgbClr val="94A3B8"/>
                </a:solidFill>
                <a:latin typeface="Segoe UI"/>
              </a:rPr>
              <a:t>Deep multi-file call stacks (e.g., controller calls service, which calls repository, which calls ORM) exceed Top-4 context.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8036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Consequence: </a:t>
            </a:r>
            <a:r>
              <a:rPr sz="950">
                <a:solidFill>
                  <a:srgbClr val="94A3B8"/>
                </a:solidFill>
                <a:latin typeface="Segoe UI"/>
              </a:rPr>
              <a:t>LLM explains controller but makes assumptions about underlying database query.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0332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Mitigation: </a:t>
            </a:r>
            <a:r>
              <a:rPr sz="950">
                <a:solidFill>
                  <a:srgbClr val="94A3B8"/>
                </a:solidFill>
                <a:latin typeface="Segoe UI"/>
              </a:rPr>
              <a:t>AST graph explorer allows developer to trace imports manually.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280160"/>
            <a:ext cx="2468880" cy="3749039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1444751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BBF24"/>
                </a:solidFill>
                <a:latin typeface="Consolas"/>
              </a:defRPr>
            </a:pPr>
            <a:r>
              <a:t>POTENTIAL FAILURE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1645919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Dynamic Imports &amp; Reflection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196596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Nature of Failure: </a:t>
            </a:r>
            <a:r>
              <a:rPr sz="950">
                <a:solidFill>
                  <a:srgbClr val="94A3B8"/>
                </a:solidFill>
                <a:latin typeface="Segoe UI"/>
              </a:rPr>
              <a:t>Dynamic runtime imports (e.g. importlib.import_module() or JS eval()) are invisible to static compiler AST parsing.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88036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Consequence: </a:t>
            </a:r>
            <a:r>
              <a:rPr sz="950">
                <a:solidFill>
                  <a:srgbClr val="94A3B8"/>
                </a:solidFill>
                <a:latin typeface="Segoe UI"/>
              </a:rPr>
              <a:t>Edge case dynamic dependencies omitted from AST graph.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70332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Mitigation: </a:t>
            </a:r>
            <a:r>
              <a:rPr sz="950">
                <a:solidFill>
                  <a:srgbClr val="94A3B8"/>
                </a:solidFill>
                <a:latin typeface="Segoe UI"/>
              </a:rPr>
              <a:t>Dense vector embedding still captures string usages in code text.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280160"/>
            <a:ext cx="2468880" cy="3749039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444751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BBF24"/>
                </a:solidFill>
                <a:latin typeface="Consolas"/>
              </a:defRPr>
            </a:pPr>
            <a:r>
              <a:t>OBSERVED THRESHOLD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645919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Repository Size Truncation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96596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Nature of Failure: </a:t>
            </a:r>
            <a:r>
              <a:rPr sz="950">
                <a:solidFill>
                  <a:srgbClr val="94A3B8"/>
                </a:solidFill>
                <a:latin typeface="Segoe UI"/>
              </a:rPr>
              <a:t>Files &gt; 150KB and total chunks &gt; 150 are capped to protect local CPU RAM.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88036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Consequence: </a:t>
            </a:r>
            <a:r>
              <a:rPr sz="950">
                <a:solidFill>
                  <a:srgbClr val="94A3B8"/>
                </a:solidFill>
                <a:latin typeface="Segoe UI"/>
              </a:rPr>
              <a:t>Very large enterprise repositories (&gt;10k files) cannot be completely indexed on a laptop.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70332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Mitigation: </a:t>
            </a:r>
            <a:r>
              <a:rPr sz="950">
                <a:solidFill>
                  <a:srgbClr val="94A3B8"/>
                </a:solidFill>
                <a:latin typeface="Segoe UI"/>
              </a:rPr>
              <a:t>README and core architecture prioritized during file sort.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1280160"/>
            <a:ext cx="2468880" cy="3749039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1444751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87171"/>
                </a:solidFill>
                <a:latin typeface="Consolas"/>
              </a:defRPr>
            </a:pPr>
            <a:r>
              <a:t>POTENTIAL FAILURE MODE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1645919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Small Model Reasoning Limits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196596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Nature of Failure: </a:t>
            </a:r>
            <a:r>
              <a:rPr sz="950">
                <a:solidFill>
                  <a:srgbClr val="94A3B8"/>
                </a:solidFill>
                <a:latin typeface="Segoe UI"/>
              </a:rPr>
              <a:t>Compact 1.5B parameters can struggle with multi-step algorithmic deduction compared to 70B models.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8036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Consequence: </a:t>
            </a:r>
            <a:r>
              <a:rPr sz="950">
                <a:solidFill>
                  <a:srgbClr val="94A3B8"/>
                </a:solidFill>
                <a:latin typeface="Segoe UI"/>
              </a:rPr>
              <a:t>Occasional superficial code explanations on complex math.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370332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Mitigation: </a:t>
            </a:r>
            <a:r>
              <a:rPr sz="950">
                <a:solidFill>
                  <a:srgbClr val="94A3B8"/>
                </a:solidFill>
                <a:latin typeface="Segoe UI"/>
              </a:rPr>
              <a:t>Automated fallback to Google Gemini 2.5 Flash Lite.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257800"/>
            <a:ext cx="10744200" cy="1005840"/>
          </a:xfrm>
          <a:prstGeom prst="roundRect">
            <a:avLst/>
          </a:prstGeom>
          <a:solidFill>
            <a:srgbClr val="181C2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367528"/>
            <a:ext cx="1037844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38BDF8"/>
                </a:solidFill>
                <a:latin typeface="Consolas"/>
              </a:rPr>
              <a:t>DEFENSE QUESTION • Academic Honesty Defense
</a:t>
            </a:r>
            <a:r>
              <a:rPr sz="900">
                <a:solidFill>
                  <a:srgbClr val="F8FAFC"/>
                </a:solidFill>
                <a:latin typeface="Segoe UI"/>
              </a:rPr>
              <a:t>We distinguish between empirical software bugs and inherent architectural trade-offs. The 150-chunk cap is a deliberate engineering trade-off to ensure deterministic sub-15 second ingestion on standard 8GB RAM student laptops.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12 / SYSTEM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Transparent Academic Appraisal of Current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CodeSense AI • Academic Evaluation &amp; Technical Defense           [ Slide 13 of 16 ]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178308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44751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BBF24"/>
                </a:solidFill>
                <a:latin typeface="Consolas"/>
              </a:defRPr>
            </a:pPr>
            <a:r>
              <a:t>STORAGE LIMITATION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45919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1. Single-Node In-Memory FAISS Vector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6596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Current State: </a:t>
            </a:r>
            <a:r>
              <a:rPr sz="950">
                <a:solidFill>
                  <a:srgbClr val="94A3B8"/>
                </a:solidFill>
                <a:latin typeface="Segoe UI"/>
              </a:rPr>
              <a:t>Vector indexes are written to local disk volumes (/app/faiss_index) on a single Docker host.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2316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Academic Critique: </a:t>
            </a:r>
            <a:r>
              <a:rPr sz="950">
                <a:solidFill>
                  <a:srgbClr val="94A3B8"/>
                </a:solidFill>
                <a:latin typeface="Segoe UI"/>
              </a:rPr>
              <a:t>Lacks distributed clustering, sharding, or replication across multi-server environments.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280160"/>
            <a:ext cx="5212080" cy="178308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44751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BBF24"/>
                </a:solidFill>
                <a:latin typeface="Consolas"/>
              </a:defRPr>
            </a:pPr>
            <a:r>
              <a:t>HARDWARE LIMITATION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645919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2. CPU-Bound Local Quantization Latency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6596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Current State: </a:t>
            </a:r>
            <a:r>
              <a:rPr sz="950">
                <a:solidFill>
                  <a:srgbClr val="94A3B8"/>
                </a:solidFill>
                <a:latin typeface="Segoe UI"/>
              </a:rPr>
              <a:t>Without GPU acceleration, Qwen 2.5 Coder 1.5B relies on CPU AVX2 instructions.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42316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Academic Critique: </a:t>
            </a:r>
            <a:r>
              <a:rPr sz="950">
                <a:solidFill>
                  <a:srgbClr val="94A3B8"/>
                </a:solidFill>
                <a:latin typeface="Segoe UI"/>
              </a:rPr>
              <a:t>Heavier prompt lengths (&gt;2,048 tokens) can degrade CPU generation throughput to 8-12 tokens/sec.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91840"/>
            <a:ext cx="5212080" cy="178308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56432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BBF24"/>
                </a:solidFill>
                <a:latin typeface="Consolas"/>
              </a:defRPr>
            </a:pPr>
            <a:r>
              <a:t>PARSER LIMITATION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6576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3. Heuristic JavaScript / TypeScript Parsing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977639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Current State: </a:t>
            </a:r>
            <a:r>
              <a:rPr sz="950">
                <a:solidFill>
                  <a:srgbClr val="94A3B8"/>
                </a:solidFill>
                <a:latin typeface="Segoe UI"/>
              </a:rPr>
              <a:t>Python leverages standard ast.parse(); JavaScript uses syntactic regex pattern matching.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43484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Academic Critique: </a:t>
            </a:r>
            <a:r>
              <a:rPr sz="950">
                <a:solidFill>
                  <a:srgbClr val="94A3B8"/>
                </a:solidFill>
                <a:latin typeface="Segoe UI"/>
              </a:rPr>
              <a:t>JS regex lacks full compiler AST depth for nested destructuring and complex re-exports.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291840"/>
            <a:ext cx="5212080" cy="178308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56432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BBF24"/>
                </a:solidFill>
                <a:latin typeface="Consolas"/>
              </a:defRPr>
            </a:pPr>
            <a:r>
              <a:t>TEMPORAL LIMITATION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6576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4. Static Single-Branch Snapshot Ingestion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77639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Current State: </a:t>
            </a:r>
            <a:r>
              <a:rPr sz="950">
                <a:solidFill>
                  <a:srgbClr val="94A3B8"/>
                </a:solidFill>
                <a:latin typeface="Segoe UI"/>
              </a:rPr>
              <a:t>Ingestion snapshots the default branch (main/master) at a single point in time.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43484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Academic Critique: </a:t>
            </a:r>
            <a:r>
              <a:rPr sz="950">
                <a:solidFill>
                  <a:srgbClr val="94A3B8"/>
                </a:solidFill>
                <a:latin typeface="Segoe UI"/>
              </a:rPr>
              <a:t>Does not incrementally track new git commits or allow instantaneous branch-switching.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257800"/>
            <a:ext cx="10744200" cy="1005840"/>
          </a:xfrm>
          <a:prstGeom prst="roundRect">
            <a:avLst/>
          </a:prstGeom>
          <a:solidFill>
            <a:srgbClr val="181C2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367528"/>
            <a:ext cx="1037844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38BDF8"/>
                </a:solidFill>
                <a:latin typeface="Consolas"/>
              </a:rPr>
              <a:t>DEFENSE QUESTION • Evaluator Question: Why not fix all limitations now?
</a:t>
            </a:r>
            <a:r>
              <a:rPr sz="900">
                <a:solidFill>
                  <a:srgbClr val="F8FAFC"/>
                </a:solidFill>
                <a:latin typeface="Segoe UI"/>
              </a:rPr>
              <a:t>Engineering is about trade-offs under constraints. For a mid-semester evaluation, building an end-to-end working 7-container microservices pipeline takes precedence over enterprise distributed clustering.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13 / FUTURE RESEARCH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Future Research Scope: Derived from Current Technical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CodeSense AI • Academic Evaluation &amp; Technical Defense           [ Slide 14 of 16 ]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728655" cy="379476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44751"/>
            <a:ext cx="10271455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DERIVED RESEARCH EXTENSIONS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45919"/>
            <a:ext cx="102714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Research Roadmap: Limitation → Technical Extension → Academic Benefit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65960"/>
            <a:ext cx="102412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Segoe UI"/>
              </a:rPr>
              <a:t>1. Retrieval Research  </a:t>
            </a:r>
            <a:r>
              <a:rPr sz="850">
                <a:solidFill>
                  <a:srgbClr val="FBBF24"/>
                </a:solidFill>
                <a:latin typeface="Consolas"/>
              </a:rPr>
              <a:t>[Gap: Lexical Blindness in Dense Embeddings]  →  </a:t>
            </a:r>
            <a:r>
              <a:rPr sz="900" b="1">
                <a:solidFill>
                  <a:srgbClr val="F8FAFC"/>
                </a:solidFill>
                <a:latin typeface="Segoe UI"/>
              </a:rPr>
              <a:t>Hybrid BM25 + FAISS Dense Vector Search with Cross-Encoder Reranking  </a:t>
            </a:r>
            <a:r>
              <a:rPr sz="850">
                <a:solidFill>
                  <a:srgbClr val="34D399"/>
                </a:solidFill>
                <a:latin typeface="Segoe UI"/>
              </a:rPr>
              <a:t>(Benefit: Boosts MRR and precision on exact variable/function names by &gt;20%.)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96312"/>
            <a:ext cx="102412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Segoe UI"/>
              </a:rPr>
              <a:t>2. AST &amp; Graph RAG  </a:t>
            </a:r>
            <a:r>
              <a:rPr sz="850">
                <a:solidFill>
                  <a:srgbClr val="FBBF24"/>
                </a:solidFill>
                <a:latin typeface="Consolas"/>
              </a:rPr>
              <a:t>[Gap: Cross-File Logic Severing across Modules]  →  </a:t>
            </a:r>
            <a:r>
              <a:rPr sz="900" b="1">
                <a:solidFill>
                  <a:srgbClr val="F8FAFC"/>
                </a:solidFill>
                <a:latin typeface="Segoe UI"/>
              </a:rPr>
              <a:t>Tree-Sitter Multilingual AST Graph RAG (Directed Graph Walk)  </a:t>
            </a:r>
            <a:r>
              <a:rPr sz="850">
                <a:solidFill>
                  <a:srgbClr val="34D399"/>
                </a:solidFill>
                <a:latin typeface="Segoe UI"/>
              </a:rPr>
              <a:t>(Benefit: Passes caller-callee module subgraph directly into prompt context.)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26664"/>
            <a:ext cx="102412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Segoe UI"/>
              </a:rPr>
              <a:t>3. Model Optimization  </a:t>
            </a:r>
            <a:r>
              <a:rPr sz="850">
                <a:solidFill>
                  <a:srgbClr val="FBBF24"/>
                </a:solidFill>
                <a:latin typeface="Consolas"/>
              </a:rPr>
              <a:t>[Gap: CPU Latency on Resource-Constrained VMs]  →  </a:t>
            </a:r>
            <a:r>
              <a:rPr sz="900" b="1">
                <a:solidFill>
                  <a:srgbClr val="F8FAFC"/>
                </a:solidFill>
                <a:latin typeface="Segoe UI"/>
              </a:rPr>
              <a:t>Speculative Decoding &amp; Layer-Pruned Quantized GGUF Models  </a:t>
            </a:r>
            <a:r>
              <a:rPr sz="850">
                <a:solidFill>
                  <a:srgbClr val="34D399"/>
                </a:solidFill>
                <a:latin typeface="Segoe UI"/>
              </a:rPr>
              <a:t>(Benefit: Triples local token generation throughput on standard consumer hardware.)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557016"/>
            <a:ext cx="102412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Segoe UI"/>
              </a:rPr>
              <a:t>4. Scalability Research  </a:t>
            </a:r>
            <a:r>
              <a:rPr sz="850">
                <a:solidFill>
                  <a:srgbClr val="FBBF24"/>
                </a:solidFill>
                <a:latin typeface="Consolas"/>
              </a:rPr>
              <a:t>[Gap: Full Re-indexing Overhead on Large Repos]  →  </a:t>
            </a:r>
            <a:r>
              <a:rPr sz="900" b="1">
                <a:solidFill>
                  <a:srgbClr val="F8FAFC"/>
                </a:solidFill>
                <a:latin typeface="Segoe UI"/>
              </a:rPr>
              <a:t>Incremental Git Commit Diff Ingestion &amp; Distributed Qdrant Store  </a:t>
            </a:r>
            <a:r>
              <a:rPr sz="850">
                <a:solidFill>
                  <a:srgbClr val="34D399"/>
                </a:solidFill>
                <a:latin typeface="Segoe UI"/>
              </a:rPr>
              <a:t>(Benefit: Sub-second re-indexing of modified files without rebuilding vector store.)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87368"/>
            <a:ext cx="102412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Segoe UI"/>
              </a:rPr>
              <a:t>5. Automated Evaluation  </a:t>
            </a:r>
            <a:r>
              <a:rPr sz="850">
                <a:solidFill>
                  <a:srgbClr val="FBBF24"/>
                </a:solidFill>
                <a:latin typeface="Consolas"/>
              </a:rPr>
              <a:t>[Gap: Manual Verification of Ground-Truth Q&amp;A]  →  </a:t>
            </a:r>
            <a:r>
              <a:rPr sz="900" b="1">
                <a:solidFill>
                  <a:srgbClr val="F8FAFC"/>
                </a:solidFill>
                <a:latin typeface="Segoe UI"/>
              </a:rPr>
              <a:t>Automated RAGAS Faithfulness &amp; Answer Relevance CI/CD Pipeline  </a:t>
            </a:r>
            <a:r>
              <a:rPr sz="850">
                <a:solidFill>
                  <a:srgbClr val="34D399"/>
                </a:solidFill>
                <a:latin typeface="Segoe UI"/>
              </a:rPr>
              <a:t>(Benefit: Continuous benchmarking against HumanEval-Repo and SWE-bench.)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03520"/>
            <a:ext cx="10728655" cy="960120"/>
          </a:xfrm>
          <a:prstGeom prst="roundRect">
            <a:avLst/>
          </a:prstGeom>
          <a:solidFill>
            <a:srgbClr val="181C2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13248"/>
            <a:ext cx="10362895" cy="740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38BDF8"/>
                </a:solidFill>
                <a:latin typeface="Consolas"/>
              </a:rPr>
              <a:t>DEFENSE QUESTION • Phased Implementation Timeline
</a:t>
            </a:r>
            <a:r>
              <a:rPr sz="900">
                <a:solidFill>
                  <a:srgbClr val="F8FAFC"/>
                </a:solidFill>
                <a:latin typeface="Segoe UI"/>
              </a:rPr>
              <a:t>Phase 1 (Immediate / Next Month): Tree-Sitter AST parser + Hybrid BM25.   |   Phase 2 (Semester 2): Automated RAGAS CI benchmark suite.   |   Phase 3 (Long-Term): Distributed Qdrant clustering and air-gapped enterprise secret isolation.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14 / SUMMARY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Conclusion: Key Contributions &amp; Technical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CodeSense AI • Academic Evaluation &amp; Technical Defense           [ Slide 15 of 16 ]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2468880" cy="3749039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44751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SYSTEM DEPLOYABILITY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45919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1.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6596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7-Service Microservices: </a:t>
            </a:r>
            <a:r>
              <a:rPr sz="950">
                <a:solidFill>
                  <a:srgbClr val="94A3B8"/>
                </a:solidFill>
                <a:latin typeface="Segoe UI"/>
              </a:rPr>
              <a:t>Orchestrated via Docker Compose with complete fault isolation and persistent storage.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8036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Zero Installation Burden: </a:t>
            </a:r>
            <a:r>
              <a:rPr sz="950">
                <a:solidFill>
                  <a:srgbClr val="94A3B8"/>
                </a:solidFill>
                <a:latin typeface="Segoe UI"/>
              </a:rPr>
              <a:t>Runs cross-platform on Ubuntu Linux, Windows, or cloud VMs with a single command.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0332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Docker Compose up --build: </a:t>
            </a:r>
            <a:r>
              <a:rPr sz="950">
                <a:solidFill>
                  <a:srgbClr val="94A3B8"/>
                </a:solidFill>
                <a:latin typeface="Segoe UI"/>
              </a:rPr>
              <a:t>Automates model pulling, database setup, and frontend bundling.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280160"/>
            <a:ext cx="2468880" cy="3749039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1444751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  <a:latin typeface="Consolas"/>
              </a:defRPr>
            </a:pPr>
            <a:r>
              <a:t>LOCAL SEMANTIC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1645919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2. Retrieval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196596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tiktoken BPE Windowing: </a:t>
            </a:r>
            <a:r>
              <a:rPr sz="950">
                <a:solidFill>
                  <a:srgbClr val="94A3B8"/>
                </a:solidFill>
                <a:latin typeface="Segoe UI"/>
              </a:rPr>
              <a:t>800-token sliding window preserves function headers and syntactic blocks.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88036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FAISS IndexFlatIP: </a:t>
            </a:r>
            <a:r>
              <a:rPr sz="950">
                <a:solidFill>
                  <a:srgbClr val="94A3B8"/>
                </a:solidFill>
                <a:latin typeface="Segoe UI"/>
              </a:rPr>
              <a:t>Sub-10ms vector similarity search executes in local RAM/disk with zero cloud latency.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70332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Batch Acceleration: </a:t>
            </a:r>
            <a:r>
              <a:rPr sz="950">
                <a:solidFill>
                  <a:srgbClr val="94A3B8"/>
                </a:solidFill>
                <a:latin typeface="Segoe UI"/>
              </a:rPr>
              <a:t>32-chunk batch embedding via Ollama /api/embed accelerates ingest by 50x.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280160"/>
            <a:ext cx="2468880" cy="3749039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444751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818CF8"/>
                </a:solidFill>
                <a:latin typeface="Consolas"/>
              </a:defRPr>
            </a:pPr>
            <a:r>
              <a:t>PRIVACY &amp;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645919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3. Dual AI 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96596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Local Privacy Guarantee: </a:t>
            </a:r>
            <a:r>
              <a:rPr sz="950">
                <a:solidFill>
                  <a:srgbClr val="94A3B8"/>
                </a:solidFill>
                <a:latin typeface="Segoe UI"/>
              </a:rPr>
              <a:t>Qwen 2.5 Coder 1.5B keeps proprietary code offline, eliminating cloud leaks.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88036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Cloud Fallback Shield: </a:t>
            </a:r>
            <a:r>
              <a:rPr sz="950">
                <a:solidFill>
                  <a:srgbClr val="94A3B8"/>
                </a:solidFill>
                <a:latin typeface="Segoe UI"/>
              </a:rPr>
              <a:t>Google Gemini 2.5 Flash Lite activates seamlessly if host CPU lacks memory.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70332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Fernet AES-128: </a:t>
            </a:r>
            <a:r>
              <a:rPr sz="950">
                <a:solidFill>
                  <a:srgbClr val="94A3B8"/>
                </a:solidFill>
                <a:latin typeface="Segoe UI"/>
              </a:rPr>
              <a:t>User API keys encrypted at rest in PostgreSQL.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1280160"/>
            <a:ext cx="2468880" cy="3749039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1444751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BBF24"/>
                </a:solidFill>
                <a:latin typeface="Consolas"/>
              </a:defRPr>
            </a:pPr>
            <a:r>
              <a:t>SCIENTIFIC CONTRIBUTIONS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1645919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4. Research Rigor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196596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Formal Research Question: </a:t>
            </a:r>
            <a:r>
              <a:rPr sz="950">
                <a:solidFill>
                  <a:srgbClr val="94A3B8"/>
                </a:solidFill>
                <a:latin typeface="Segoe UI"/>
              </a:rPr>
              <a:t>Established measurable hypotheses and reproducible benchmark protocol.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8036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AST Coupling Insights: </a:t>
            </a:r>
            <a:r>
              <a:rPr sz="950">
                <a:solidFill>
                  <a:srgbClr val="94A3B8"/>
                </a:solidFill>
                <a:latin typeface="Segoe UI"/>
              </a:rPr>
              <a:t>Demonstrated that lexical search must be augmented with compiler syntax trees.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370332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Roadmap Derived from Gaps: </a:t>
            </a:r>
            <a:r>
              <a:rPr sz="950">
                <a:solidFill>
                  <a:srgbClr val="94A3B8"/>
                </a:solidFill>
                <a:latin typeface="Segoe UI"/>
              </a:rPr>
              <a:t>Future work directly addresses identified technical limitations.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257800"/>
            <a:ext cx="10744200" cy="1005840"/>
          </a:xfrm>
          <a:prstGeom prst="roundRect">
            <a:avLst/>
          </a:prstGeom>
          <a:solidFill>
            <a:srgbClr val="181C2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367528"/>
            <a:ext cx="1037844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38BDF8"/>
                </a:solidFill>
                <a:latin typeface="Consolas"/>
              </a:rPr>
              <a:t>DEFENSE QUESTION • CodeSense AI • Project Evaluation Summary
</a:t>
            </a:r>
            <a:r>
              <a:rPr sz="900">
                <a:solidFill>
                  <a:srgbClr val="F8FAFC"/>
                </a:solidFill>
                <a:latin typeface="Segoe UI"/>
              </a:rPr>
              <a:t>Thank you, esteemed evaluators. CodeSense AI demonstrates that semantic code intelligence can be delivered locally, securely, and with high architectural rigor. Ready for Technical Viva &amp; Questioning.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15 / VIVA DEFENSE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Appendix: Viva Defense Rationale &amp; Rapid Answer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CodeSense AI • Academic Evaluation &amp; Technical Defense           [ Slide 16 of 16 ]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337560" cy="224028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44751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VIVA DEFENSE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45919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Why FAISS over Pinecone?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74519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Privacy &amp; Zero Cost: </a:t>
            </a:r>
            <a:r>
              <a:rPr sz="950">
                <a:solidFill>
                  <a:srgbClr val="94A3B8"/>
                </a:solidFill>
                <a:latin typeface="Segoe UI"/>
              </a:rPr>
              <a:t>Pinecone sends vectors to closed cloud and requires paid tiers. FAISS runs locally on CPU with zero data leakage.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0604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Latency: </a:t>
            </a:r>
            <a:r>
              <a:rPr sz="950">
                <a:solidFill>
                  <a:srgbClr val="94A3B8"/>
                </a:solidFill>
                <a:latin typeface="Segoe UI"/>
              </a:rPr>
              <a:t>Local in-memory search executes in &lt;10ms without internet latency.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280160"/>
            <a:ext cx="3337560" cy="224028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444751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818CF8"/>
                </a:solidFill>
                <a:latin typeface="Consolas"/>
              </a:defRPr>
            </a:pPr>
            <a:r>
              <a:t>VIVA DEFENSE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645919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Why Qwen 1.5B over CodeLlama 7B?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874519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Resource Footprint: </a:t>
            </a:r>
            <a:r>
              <a:rPr sz="950">
                <a:solidFill>
                  <a:srgbClr val="94A3B8"/>
                </a:solidFill>
                <a:latin typeface="Segoe UI"/>
              </a:rPr>
              <a:t>CodeLlama 7B needs 8GB+ VRAM and hangs standard laptops. Qwen 1.5B uses 80% less RAM and generates answers in &lt;2s.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60604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Code Benchmark Quality: </a:t>
            </a:r>
            <a:r>
              <a:rPr sz="950">
                <a:solidFill>
                  <a:srgbClr val="94A3B8"/>
                </a:solidFill>
                <a:latin typeface="Segoe UI"/>
              </a:rPr>
              <a:t>Qwen 2.5 Coder matches 7B models on code generation benchmarks.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280160"/>
            <a:ext cx="3337560" cy="224028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444751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  <a:latin typeface="Consolas"/>
              </a:defRPr>
            </a:pPr>
            <a:r>
              <a:t>VIVA DEFENSE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645919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Why 800 Tokens with 120 Overlap?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874519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Semantic Boundary: </a:t>
            </a:r>
            <a:r>
              <a:rPr sz="950">
                <a:solidFill>
                  <a:srgbClr val="94A3B8"/>
                </a:solidFill>
                <a:latin typeface="Segoe UI"/>
              </a:rPr>
              <a:t>800 BPE tokens captures full function bodies. 120 overlap prevents severed headers.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60604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Token vs Char: </a:t>
            </a:r>
            <a:r>
              <a:rPr sz="950">
                <a:solidFill>
                  <a:srgbClr val="94A3B8"/>
                </a:solidFill>
                <a:latin typeface="Segoe UI"/>
              </a:rPr>
              <a:t>tiktoken aligns with subword tokens, preventing mid-word or mid-variable slicing.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886200"/>
            <a:ext cx="3337560" cy="224028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050791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BBF24"/>
                </a:solidFill>
                <a:latin typeface="Consolas"/>
              </a:defRPr>
            </a:pPr>
            <a:r>
              <a:t>VIVA DEFENSE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251959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How is Hallucination Controlled?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48056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Strict Prompt Template: </a:t>
            </a:r>
            <a:r>
              <a:rPr sz="950">
                <a:solidFill>
                  <a:srgbClr val="94A3B8"/>
                </a:solidFill>
                <a:latin typeface="Segoe UI"/>
              </a:rPr>
              <a:t>QA_PROMPT explicitly commands LLM to use only verified repository context and cite sources.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21208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Top-4 Grounding: </a:t>
            </a:r>
            <a:r>
              <a:rPr sz="950">
                <a:solidFill>
                  <a:srgbClr val="94A3B8"/>
                </a:solidFill>
                <a:latin typeface="Segoe UI"/>
              </a:rPr>
              <a:t>Excerpts contain file path headers prepended directly into context.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886200"/>
            <a:ext cx="3337560" cy="224028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050791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87171"/>
                </a:solidFill>
                <a:latin typeface="Consolas"/>
              </a:defRPr>
            </a:pPr>
            <a:r>
              <a:t>VIVA DEFENSE 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251959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How are API Keys Secured?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48056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Fernet AES-128-CBC: </a:t>
            </a:r>
            <a:r>
              <a:rPr sz="950">
                <a:solidFill>
                  <a:srgbClr val="94A3B8"/>
                </a:solidFill>
                <a:latin typeface="Segoe UI"/>
              </a:rPr>
              <a:t>Symmetric encryption at rest in PostgreSQL. A database dump cannot read keys without SECRET_KEY.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521208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Decryption in RAM: </a:t>
            </a:r>
            <a:r>
              <a:rPr sz="950">
                <a:solidFill>
                  <a:srgbClr val="94A3B8"/>
                </a:solidFill>
                <a:latin typeface="Segoe UI"/>
              </a:rPr>
              <a:t>Keys decrypted only in-memory at moment of inference call.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3886200"/>
            <a:ext cx="3337560" cy="2240280"/>
          </a:xfrm>
          <a:prstGeom prst="roundRect">
            <a:avLst/>
          </a:prstGeom>
          <a:solidFill>
            <a:srgbClr val="13161F"/>
          </a:solidFill>
          <a:ln w="12700">
            <a:solidFill>
              <a:srgbClr val="26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4050791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VIVA DEFENSE 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251959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Segoe UI"/>
              </a:defRPr>
            </a:pPr>
            <a:r>
              <a:t>Why Microservices?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48056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Heterogeneous Workloads: </a:t>
            </a:r>
            <a:r>
              <a:rPr sz="950">
                <a:solidFill>
                  <a:srgbClr val="94A3B8"/>
                </a:solidFill>
                <a:latin typeface="Segoe UI"/>
              </a:rPr>
              <a:t>Data Service is I/O-bound; RAG Service is vector-bound; LLM Service is compute-bound.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521208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</a:rPr>
              <a:t>Independent Scaling: </a:t>
            </a:r>
            <a:r>
              <a:rPr sz="950">
                <a:solidFill>
                  <a:srgbClr val="94A3B8"/>
                </a:solidFill>
                <a:latin typeface="Segoe UI"/>
              </a:rPr>
              <a:t>Allows upgrading or restarting Ollama without dropping user sessions.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